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3475AF0C-4B7B-4541-92CE-41168E974B7B}">
          <p14:sldIdLst>
            <p14:sldId id="256"/>
          </p14:sldIdLst>
        </p14:section>
        <p14:section name="Untitled Section" id="{AE44FA43-B648-4895-9AA5-29538D2B4E5E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BB63D0-F69F-4A21-8247-3A93F978F3CA}" v="29" dt="2026-06-12T06:30:48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6C0FAA-D6C5-4758-8942-F9ADE60A849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B7DE0-D63C-4D33-865C-6136BA8F9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81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7DE0-D63C-4D33-865C-6136BA8F996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67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38740-D978-3A20-A4C3-52935D5A9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FA2C49-2E43-03ED-1ADF-91DECEF94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311C0-3549-380D-EEC6-57C86425A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3E0A-9983-409C-96C9-AA3D56B70C6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8782A-4E32-6AA4-2381-CFCC81C3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1A4B9-63AC-6EB0-3EBC-F01D94DE6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B5D8-9A4C-43FC-A37A-AE48DD0640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660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7CBF8-20CD-CE0F-8524-2CFF2C6CA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6201A-9F0B-8AC3-090B-97167FBDF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76E2A-56F1-7EBC-F08E-336ABBED2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3E0A-9983-409C-96C9-AA3D56B70C6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04F3-DE10-D275-4506-50627EB5A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42C95-0D79-E4CC-57AD-E3FA5D7D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B5D8-9A4C-43FC-A37A-AE48DD0640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390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890F5-3B1F-A284-FFE4-6AECB0A3C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BCE145-EFEF-2683-27BD-A172C9286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0ACEC-081B-781A-E623-3EC42021D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3E0A-9983-409C-96C9-AA3D56B70C6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D43BB-918B-E7D4-2A16-F8533590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41EF8-A65E-1C25-3026-6906BB57B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B5D8-9A4C-43FC-A37A-AE48DD0640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6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0488E-02E5-0A81-176B-C31CA6215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30F83-29AC-0885-1EA5-EFEA353BC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E4D72-0ED4-EC34-46C3-CC35D8180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9046F-ECE3-CB97-DF82-DF1820F78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3E0A-9983-409C-96C9-AA3D56B70C6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285B2-297D-4984-DAB6-3DA729D6A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7E589-AC32-2D3B-293D-F95863ECA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B5D8-9A4C-43FC-A37A-AE48DD0640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70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023D6-FBC9-6DBA-1C50-117B2E5E9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F6991-D1E8-A186-DE92-2515B91B2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6DB02D-F9B8-8E9D-F5FD-813226E0C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F9B67C-361B-2450-6D21-7FFFEC9E2E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31C8D3-B810-750D-0BDC-0937EE65B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F7ABC1-3BF7-6530-5A32-10461F40D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3E0A-9983-409C-96C9-AA3D56B70C6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2D573B-B04E-CEAC-44A5-FFEADD5F7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9EE755-54F2-97E7-ECC4-4C1E0C4D5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B5D8-9A4C-43FC-A37A-AE48DD0640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598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5C67E-DE10-20D9-9CC0-98B341F78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B21AF-F70C-D8C8-ED50-18B20E28B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3E0A-9983-409C-96C9-AA3D56B70C6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EA4927-139C-A84E-93C1-0F0E6EAB4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205FB8-3822-778D-47E4-498395E81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B5D8-9A4C-43FC-A37A-AE48DD0640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735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0BA880-D67F-BE86-5B88-560F208E2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3E0A-9983-409C-96C9-AA3D56B70C6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8FB2B2-2037-A1F7-7E21-8191839A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45244-138C-E362-52B6-C5FA971A0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B5D8-9A4C-43FC-A37A-AE48DD0640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105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D48CC-E730-8962-02AD-D2D1E5847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8DEB4-B577-9B60-AFF6-F9566676B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EA070-F042-7810-6840-002D487FB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CC816-8331-5EEC-4346-E6657F58E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3E0A-9983-409C-96C9-AA3D56B70C6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371B0B-3FD9-F9D6-37DF-07A15415C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B46C1D-84D3-7805-AFA3-EE5E8BC66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B5D8-9A4C-43FC-A37A-AE48DD0640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746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A6248-0E85-E5A7-9604-6C37C5DE0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22C963-FB8A-9F2F-EF6F-61221675F6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283A18-03D4-E8FB-BDE9-6B4885889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06FEE5-2DD8-FD7F-3154-474585E89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3E0A-9983-409C-96C9-AA3D56B70C6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71C9E6-FAFA-3F66-AB64-0C2C19C3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E02EB-9639-1CEA-2350-F24A96F00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B5D8-9A4C-43FC-A37A-AE48DD0640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531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B1B74-40F8-4B78-42DD-0B8D5BCE1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8367F7-3659-6189-6D36-80E669311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D485D-6C61-FB1B-2E01-919BEF03E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3E0A-9983-409C-96C9-AA3D56B70C6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8567B-03F8-3A92-D5D1-E424494CC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96398-86FB-8CFC-FBE4-757FA9F98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B5D8-9A4C-43FC-A37A-AE48DD0640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019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4D5730-21CD-1BCE-BBB8-410FFF9A34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70B074-EDAF-5890-6DC3-8AD7EA1CF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46EB8-61CA-C346-D00E-DD693B50C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3E0A-9983-409C-96C9-AA3D56B70C6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3CFB6-0FDE-6128-8783-916E2323C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F7B68-9773-38AB-3EB0-F216291A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B5D8-9A4C-43FC-A37A-AE48DD0640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046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50BB6A-3370-C9DB-9529-E4CE3B3C7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47447-A8D5-86F5-4593-E83F6E17F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10D25-ABC2-D2D4-A591-A9BC9515E5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F93E0A-9983-409C-96C9-AA3D56B70C6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8F0C4-0AB1-F4DC-0D9A-5B79D526DB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790C7-DB70-8C60-AAB6-7B44381AD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8AB5D8-9A4C-43FC-A37A-AE48DD0640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766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5BF4DF2C-F028-4921-9C23-41303F650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5AF422-ACD8-9EA5-8992-67C9E2BBC8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98246"/>
            <a:ext cx="4412419" cy="36262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6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Bluestock Mutual Fund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9261D6-8FAA-9590-C1CF-8981F0FCC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170066"/>
            <a:ext cx="4449178" cy="2211685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algn="r"/>
            <a:endParaRPr lang="en-US" sz="2800" b="1" dirty="0">
              <a:solidFill>
                <a:srgbClr val="FFFFFF"/>
              </a:solidFill>
            </a:endParaRPr>
          </a:p>
          <a:p>
            <a:pPr algn="r"/>
            <a:r>
              <a:rPr lang="en-US" sz="2800" b="1" dirty="0">
                <a:solidFill>
                  <a:srgbClr val="FFFFFF"/>
                </a:solidFill>
              </a:rPr>
              <a:t>Capstone Project</a:t>
            </a:r>
          </a:p>
          <a:p>
            <a:pPr algn="r"/>
            <a:endParaRPr lang="en-US" sz="2800" b="1" dirty="0">
              <a:solidFill>
                <a:srgbClr val="FFFFFF"/>
              </a:solidFill>
            </a:endParaRPr>
          </a:p>
          <a:p>
            <a:pPr algn="r"/>
            <a:endParaRPr lang="en-US" sz="2800" b="1" dirty="0">
              <a:solidFill>
                <a:srgbClr val="FFFFFF"/>
              </a:solidFill>
            </a:endParaRPr>
          </a:p>
          <a:p>
            <a:pPr algn="r"/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Kesavan S</a:t>
            </a:r>
          </a:p>
          <a:p>
            <a:pPr algn="r"/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| SQLite | Power BI 2026</a:t>
            </a:r>
          </a:p>
          <a:p>
            <a:pPr indent="-228600" algn="r">
              <a:buFont typeface="Arial" panose="020B0604020202020204" pitchFamily="34" charset="0"/>
              <a:buChar char="•"/>
            </a:pPr>
            <a:endParaRPr lang="en-US" sz="1500" b="1" dirty="0">
              <a:solidFill>
                <a:srgbClr val="FFFFFF"/>
              </a:solidFill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479956E-BD80-8705-6916-1748F7D2A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925" y="1868129"/>
            <a:ext cx="5664133" cy="3626389"/>
          </a:xfrm>
          <a:prstGeom prst="rect">
            <a:avLst/>
          </a:pr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892B7B61-D701-474B-AE8F-EA238B550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55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62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60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D60B46-CAF2-14B5-F9E1-5BB8C64A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 fontScale="90000"/>
          </a:bodyPr>
          <a:lstStyle/>
          <a:p>
            <a:r>
              <a:rPr lang="en-IN" sz="4500" dirty="0"/>
              <a:t> </a:t>
            </a: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  <a:br>
              <a:rPr lang="en-IN" sz="4500" dirty="0"/>
            </a:br>
            <a:endParaRPr lang="en-IN" sz="45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5D0B3-956C-7E9B-46CB-A07673D07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049864"/>
            <a:ext cx="9757898" cy="4181293"/>
          </a:xfrm>
        </p:spPr>
        <p:txBody>
          <a:bodyPr anchor="t">
            <a:norm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Investors often struggle to evaluate mutual fund performance, risk exposure, and portfolio diversification due to large and complex financial datasets.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ETL pipeline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EDA</a:t>
            </a:r>
          </a:p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fund performance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risk metrics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investor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fund recommendation system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1856369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1EBF41-8C8C-A2F4-09B4-6AC00E7E0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619143-FE0E-CADE-9597-C022CF4B2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694" y="511293"/>
            <a:ext cx="3654356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7E08C-C5C8-792B-4748-4DA3E2719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627832"/>
            <a:ext cx="5257800" cy="48734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Used: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Master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 History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AUM Data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SIP Inflows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Inflows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Transactions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Holdings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Indices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Statistics: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 Records: 46,000+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Schemes: 40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Transactions: 32,778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Holdings: 322</a:t>
            </a:r>
          </a:p>
        </p:txBody>
      </p:sp>
    </p:spTree>
    <p:extLst>
      <p:ext uri="{BB962C8B-B14F-4D97-AF65-F5344CB8AC3E}">
        <p14:creationId xmlns:p14="http://schemas.microsoft.com/office/powerpoint/2010/main" val="1069678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C68B7D-686F-B723-AB9B-F117DECF5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 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687AF953-14C2-9DDD-240F-ED24777A3F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82" y="955437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BCC53-3D50-902F-F0AC-9287B5462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6884" y="1597688"/>
            <a:ext cx="5766916" cy="52467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Workflow:  </a:t>
            </a:r>
          </a:p>
          <a:p>
            <a:pPr marL="0" indent="0" algn="ctr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</a:t>
            </a:r>
          </a:p>
          <a:p>
            <a:pPr marL="0" indent="0" algn="ctr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</a:t>
            </a:r>
          </a:p>
          <a:p>
            <a:pPr marL="0" indent="0" algn="ctr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 marL="0" indent="0" algn="ctr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</a:t>
            </a:r>
          </a:p>
          <a:p>
            <a:pPr marL="0" indent="0" algn="ctr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Database</a:t>
            </a:r>
          </a:p>
          <a:p>
            <a:pPr marL="0" indent="0" algn="ctr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Layer</a:t>
            </a:r>
          </a:p>
          <a:p>
            <a:pPr marL="0" indent="0" algn="ctr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1368525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520DE7-F399-79AD-9C31-015F618AF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Highlights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EBB48A-9DBC-F24A-C88E-A19CF6179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20" y="1286190"/>
            <a:ext cx="5458838" cy="3788228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9A3B3-42B4-04EF-7B3F-256B8B55B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05055"/>
            <a:ext cx="5905080" cy="47364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 &amp; Benchmark Analysis: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NAV trend analysis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comparison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Category-wise performance comparison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Small-cap funds showed higher volatility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Large-cap funds showed stable growth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funds outperformed benchmarks</a:t>
            </a:r>
          </a:p>
        </p:txBody>
      </p:sp>
    </p:spTree>
    <p:extLst>
      <p:ext uri="{BB962C8B-B14F-4D97-AF65-F5344CB8AC3E}">
        <p14:creationId xmlns:p14="http://schemas.microsoft.com/office/powerpoint/2010/main" val="2851167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9917C0-12EB-321F-4626-76DBC1CB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Highlights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FE1BCA-E71E-2EB5-56B7-4A8A45B01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22" y="1266092"/>
            <a:ext cx="5628283" cy="3858567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ADACB-CBB4-18EC-C5E0-DC2ECD5C9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984443"/>
            <a:ext cx="5257800" cy="41925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Analysis: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Group Analysis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SIP Behavior Analysis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Pattern Analysis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26–55 age group dominated investments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SIP is the most popular investment mode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Tier-1 cities contributed major investments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835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520815-1CEF-060B-F7B4-71810E6D7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C515F7-CE01-6688-BEE8-520DB679E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91" y="1929284"/>
            <a:ext cx="8605306" cy="1325563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98DE4-0DE0-EAA4-C6FA-6C9E93A07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497204"/>
            <a:ext cx="5458838" cy="5347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Analytics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Calculated: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CAGR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 Ratio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Sortino Ratio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Beta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funds delivered strong risk-adjusted returns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Alpha indicated benchmark outperformance</a:t>
            </a:r>
          </a:p>
        </p:txBody>
      </p:sp>
    </p:spTree>
    <p:extLst>
      <p:ext uri="{BB962C8B-B14F-4D97-AF65-F5344CB8AC3E}">
        <p14:creationId xmlns:p14="http://schemas.microsoft.com/office/powerpoint/2010/main" val="732179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EC6401-F1EA-87F7-F061-1E5942B20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F3A3FB-7E5D-E1B2-F9E9-1E0ACF57F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42" y="1949380"/>
            <a:ext cx="5280735" cy="216510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163EC-35E6-894A-84C9-DFC378223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805056"/>
            <a:ext cx="5941996" cy="47565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Risk Analytics: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(95%)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(95%)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 90-Day Sharpe Ratio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Small-cap funds showed highest downside risk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Risk-adjusted returns varied across market periods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80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DF8C4B-443E-C664-5A50-219017B44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n-IN" sz="3700" b="1">
                <a:latin typeface="Times New Roman" panose="02020603050405020304" pitchFamily="18" charset="0"/>
                <a:cs typeface="Times New Roman" panose="02020603050405020304" pitchFamily="18" charset="0"/>
              </a:rPr>
              <a:t>Dashboard Screenshot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49F3D-E937-D0C6-5563-D694D10E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Overview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KPI Monitoring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Fund Performance Tracking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Filters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Category Analysis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FCAC18-C3CB-5FB1-A2D4-13D3DBFCA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748" y="262337"/>
            <a:ext cx="5098660" cy="27787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2799FB-0294-F59C-92DA-94CF93191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479" y="3351138"/>
            <a:ext cx="4986308" cy="278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858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6502AC-94D2-8C2A-A487-14C2CB6D5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 fontScale="90000"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Screenshot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70AA3-CA72-6CA5-AC91-7C4ED1E9E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&amp; Portfolio Dashboards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Demographics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SIP Analysis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Holdings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HHI Concentration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08A193-D774-8C98-971E-F992A827A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367" y="301451"/>
            <a:ext cx="5415420" cy="29649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1732DC-BDC0-CA96-9B35-602A39AB7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392" y="3420662"/>
            <a:ext cx="5128810" cy="280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328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14BAB4-38BC-61EB-2815-1957DC34D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IN" sz="4600"/>
              <a:t> </a:t>
            </a:r>
            <a:r>
              <a:rPr lang="en-IN" sz="46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&amp; Recommendations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768A1-3FC5-92F7-D8DA-13D860FDF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203079"/>
            <a:ext cx="10143668" cy="414784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Strong-performing funds identified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Small-cap funds carried higher risk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SIP investors demonstrated strong continuity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Diversification reduced concentration risk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risk-adjusted metrics for fund selection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diversified portfolios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SIP investments regularly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portfolio concentration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893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6F819E-22FF-1F47-7AB9-DC13BC3F3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IN" sz="5400"/>
              <a:t> </a:t>
            </a:r>
            <a:r>
              <a:rPr lang="en-IN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Thank You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A305A-91B7-3252-E771-8D425F169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203079"/>
            <a:ext cx="10143668" cy="4267991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integrated: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Pipeline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Analytics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Modeling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Analytics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Visualization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market APIs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fund recommendations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optimization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deployment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160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375</Words>
  <Application>Microsoft Office PowerPoint</Application>
  <PresentationFormat>Widescreen</PresentationFormat>
  <Paragraphs>130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Bluestock Mutual Fund Analytics</vt:lpstr>
      <vt:lpstr> Problem Statement &amp; Objectives </vt:lpstr>
      <vt:lpstr>Data Sources</vt:lpstr>
      <vt:lpstr>Project Architecture </vt:lpstr>
      <vt:lpstr>EDA Highlights</vt:lpstr>
      <vt:lpstr>EDA Highlights</vt:lpstr>
      <vt:lpstr>Performance Metrics</vt:lpstr>
      <vt:lpstr>Performance Metrics</vt:lpstr>
      <vt:lpstr>Dashboard Screenshot</vt:lpstr>
      <vt:lpstr>Dashboard Screenshot</vt:lpstr>
      <vt:lpstr> Key Findings &amp; Recommendations</vt:lpstr>
      <vt:lpstr> Conclusion &amp;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 Kumar G</dc:creator>
  <cp:lastModifiedBy>Mohan Kumar G</cp:lastModifiedBy>
  <cp:revision>2</cp:revision>
  <dcterms:created xsi:type="dcterms:W3CDTF">2026-06-12T05:31:46Z</dcterms:created>
  <dcterms:modified xsi:type="dcterms:W3CDTF">2026-06-12T06:35:08Z</dcterms:modified>
</cp:coreProperties>
</file>